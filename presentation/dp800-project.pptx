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71e4ce2554163" /><Relationship Type="http://schemas.openxmlformats.org/officeDocument/2006/relationships/extended-properties" Target="/docProps/app.xml" Id="Rbe5e70a6db4d4123" /><Relationship Type="http://schemas.openxmlformats.org/officeDocument/2006/relationships/officeDocument" Target="/ppt/presentation.xml" Id="Rb704bcbeac9b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d4ca37b96438b"/>
  </p:sldMasterIdLst>
  <p:notesMasterIdLst>
    <p:notesMasterId xmlns:r="http://schemas.openxmlformats.org/officeDocument/2006/relationships" r:id="Ra45c4518d4544f5e"/>
  </p:notesMasterIdLst>
  <p:sldIdLst>
    <p:sldId xmlns:r="http://schemas.openxmlformats.org/officeDocument/2006/relationships" id="256" r:id="R90fc7ec92e584ee8"/>
    <p:sldId xmlns:r="http://schemas.openxmlformats.org/officeDocument/2006/relationships" id="257" r:id="R4749123c8ad64a05"/>
    <p:sldId xmlns:r="http://schemas.openxmlformats.org/officeDocument/2006/relationships" id="258" r:id="Rae242c6f651a4be4"/>
    <p:sldId xmlns:r="http://schemas.openxmlformats.org/officeDocument/2006/relationships" id="259" r:id="R02e43e1208294392"/>
    <p:sldId xmlns:r="http://schemas.openxmlformats.org/officeDocument/2006/relationships" id="260" r:id="Rea0daf66f57948fd"/>
    <p:sldId xmlns:r="http://schemas.openxmlformats.org/officeDocument/2006/relationships" id="261" r:id="Rc8ba4784f6cc4cf8"/>
    <p:sldId xmlns:r="http://schemas.openxmlformats.org/officeDocument/2006/relationships" id="262" r:id="R130a5b47d379474a"/>
    <p:sldId xmlns:r="http://schemas.openxmlformats.org/officeDocument/2006/relationships" id="263" r:id="Radb122b14619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4975278634089" /><Relationship Type="http://schemas.openxmlformats.org/officeDocument/2006/relationships/slideMaster" Target="/ppt/slideMasters/slideMaster1.xml" Id="R75fd4ca37b96438b" /><Relationship Type="http://schemas.openxmlformats.org/officeDocument/2006/relationships/notesMaster" Target="/ppt/notesMasters/notesMaster1.xml" Id="Ra45c4518d4544f5e" /><Relationship Type="http://schemas.openxmlformats.org/officeDocument/2006/relationships/presProps" Target="/ppt/presProps.xml" Id="Rc3d87ef3df0f4154" /><Relationship Type="http://schemas.openxmlformats.org/officeDocument/2006/relationships/tableStyles" Target="/ppt/tableStyles.xml" Id="R28118c62f99348cd" /><Relationship Type="http://schemas.openxmlformats.org/officeDocument/2006/relationships/slide" Target="/ppt/slides/slide1.xml" Id="R90fc7ec92e584ee8" /><Relationship Type="http://schemas.openxmlformats.org/officeDocument/2006/relationships/slide" Target="/ppt/slides/slide2.xml" Id="R4749123c8ad64a05" /><Relationship Type="http://schemas.openxmlformats.org/officeDocument/2006/relationships/slide" Target="/ppt/slides/slide3.xml" Id="Rae242c6f651a4be4" /><Relationship Type="http://schemas.openxmlformats.org/officeDocument/2006/relationships/slide" Target="/ppt/slides/slide4.xml" Id="R02e43e1208294392" /><Relationship Type="http://schemas.openxmlformats.org/officeDocument/2006/relationships/slide" Target="/ppt/slides/slide5.xml" Id="Rea0daf66f57948fd" /><Relationship Type="http://schemas.openxmlformats.org/officeDocument/2006/relationships/slide" Target="/ppt/slides/slide6.xml" Id="Rc8ba4784f6cc4cf8" /><Relationship Type="http://schemas.openxmlformats.org/officeDocument/2006/relationships/slide" Target="/ppt/slides/slide7.xml" Id="R130a5b47d379474a" /><Relationship Type="http://schemas.openxmlformats.org/officeDocument/2006/relationships/slide" Target="/ppt/slides/slide8.xml" Id="Radb122b14619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4d7179608f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c0a9601204d28" /><Relationship Type="http://schemas.openxmlformats.org/officeDocument/2006/relationships/notesMaster" Target="/ppt/notesMasters/notesMaster1.xml" Id="R6158bd65529a47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1dcd866434dd0" /><Relationship Type="http://schemas.openxmlformats.org/officeDocument/2006/relationships/notesMaster" Target="/ppt/notesMasters/notesMaster1.xml" Id="R97b6021fec47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5b7acd43c74779" /><Relationship Type="http://schemas.openxmlformats.org/officeDocument/2006/relationships/notesMaster" Target="/ppt/notesMasters/notesMaster1.xml" Id="R571ca624734043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b38d6d6034498" /><Relationship Type="http://schemas.openxmlformats.org/officeDocument/2006/relationships/notesMaster" Target="/ppt/notesMasters/notesMaster1.xml" Id="Ra40c552e54b74b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136000c87948ff" /><Relationship Type="http://schemas.openxmlformats.org/officeDocument/2006/relationships/notesMaster" Target="/ppt/notesMasters/notesMaster1.xml" Id="Rc862815c32d140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022a15114a4327" /><Relationship Type="http://schemas.openxmlformats.org/officeDocument/2006/relationships/notesMaster" Target="/ppt/notesMasters/notesMaster1.xml" Id="Re1727b5337224a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18e16c22ed416d" /><Relationship Type="http://schemas.openxmlformats.org/officeDocument/2006/relationships/notesMaster" Target="/ppt/notesMasters/notesMaster1.xml" Id="R1bd1e1eba858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163d866cd5431c" /><Relationship Type="http://schemas.openxmlformats.org/officeDocument/2006/relationships/notesMaster" Target="/ppt/notesMasters/notesMaster1.xml" Id="R9a284ca844dc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segundos. Objetivo: convertir una necesidad de aprendizaje en cursos y una explicación basada en el catálogo. Todo se ejecuta localmente. El catálogo contiene ejemplos ficticios. Fuentes: README.md y docs/evidence/validation.json.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segundos. Explicar que la petición no necesita un título exacto. Mostrar búsqueda, nivel, duración y temática. Captura real de la interfaz local en docs/evidence/search.png.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Python orquesta ambos modelos; SQL Server no llama directamente a Ollama. embeddinggemma devuelve vectores, SQL devuelve cursos y qwen2.5 genera motivos sobre ese contexto. Fuentes: app.py, rag.py, scripts/generate_embeddings.py; https://docs.ollama.com/api/chat y https://ollama.com/library/qwen2.5:1.5b.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Tres tablas y relación muchos a muchos. PK/FK/CHECK/UNIQUE e índices de restricciones. Explicar dos mecanismos: roles/usuarios y permisos GRANT/DENY. EXECUTE AS permite demostrar la diferencia. La app se impersona como lector y revierte; producción usaría cuenta dedicada. Fuentes: sql/01_schema.sql, sql/07_programmability.sql, sql/08_security.sql y evidencia setup-CourseRecommender.json.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Diferenciar modelo de embeddings y LLM. Coseno compara orientación; menor distancia es mejor. TOP K y filtros se ejecutan en SQL. El LLM redacta motivos, y la app muestra los campos factuales y referencias desde SQL. Citas conocidas no garantizan que toda explicación sea verdadera. Fuentes: rag.py y https://docs.ollama.com/capabilities/structured-outputs.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segundos. Abrir la aplicación. Buscar ventas SQL y aplicar Principiante. Pulsar Recomendar y explicar con IA local. Abrir el contexto y mostrar CourseId. Repetir con diseño de moda y con una pregunta de precios. La captura muestra contexto real de la interfaz. Fuentes: docs/evidence/ui-rag.json y rag-context.png.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Misma base con 131 cursos, mismo vector, filtros y treinta pares alternados después de tres calentamientos. Igualdad completa de resultados. Query Store usa deltas por object_id, sumando sentencias internas por llamada. No incluye Ollama. La mediana ODBC apenas cambia y no debe exagerarse. Fuentes: docs/evidence/optimization.json y optimization-materialized-trial.json.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segundos. Concluir con datos y permisos como base de la solución. El catálogo es ficticio, la evaluación de relevancia es pequeña y el LLM puede equivocarse. No afirmar escalabilidad a miles de cursos. Entregables: README, scripts, PDF, PPTX, JSON y capturas, repositorio privado con invitación al profesor. Fuentes: README.md, docs/asistencia-ia.md y docs/evidence/reproduction-validation.json.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4cce4d3fc42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0973bc7be4a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cf09a8c2743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7968e7bf647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38458af5144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916555208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3CA3B2-C348-4B82-957C-7E5CCF6E0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A14E83-3F4A-4214-A0D9-0A9A05756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2440FC-F04A-4316-99E6-AC7D72E7F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39286-B78C-4CBF-BB10-64A3354D3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7FDC06-379E-4E53-825D-2B66119E4B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500F7B-6449-4F4B-8BE8-AE66717EF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23F6A3-02F6-4C73-84EE-CA40F1E2D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2D5B21-8F1C-48C4-BDE1-6F890F110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6E4FD8-BAB1-4C66-A2A0-E92B468A7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5C948-B736-4A19-B33D-5E904C900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99baacdf84050" /><Relationship Type="http://schemas.openxmlformats.org/officeDocument/2006/relationships/slideLayout" Target="/ppt/slideLayouts/slideLayout1.xml" Id="R27455728fb2c424a" /><Relationship Type="http://schemas.openxmlformats.org/officeDocument/2006/relationships/slideLayout" Target="/ppt/slideLayouts/slideLayout2.xml" Id="R3cc4141f20a7429c" /><Relationship Type="http://schemas.openxmlformats.org/officeDocument/2006/relationships/slideLayout" Target="/ppt/slideLayouts/slideLayout3.xml" Id="R04f92074102d4b70" /><Relationship Type="http://schemas.openxmlformats.org/officeDocument/2006/relationships/slideLayout" Target="/ppt/slideLayouts/slideLayout4.xml" Id="Ra41c5aee72bb47e3" /><Relationship Type="http://schemas.openxmlformats.org/officeDocument/2006/relationships/slideLayout" Target="/ppt/slideLayouts/slideLayout5.xml" Id="Rc8c27b3819fc4f1f" /><Relationship Type="http://schemas.openxmlformats.org/officeDocument/2006/relationships/slideLayout" Target="/ppt/slideLayouts/slideLayout6.xml" Id="R6e13dfb12128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55728fb2c424a"/>
    <p:sldLayoutId xmlns:r="http://schemas.openxmlformats.org/officeDocument/2006/relationships" id="2147483650" r:id="R3cc4141f20a7429c"/>
    <p:sldLayoutId xmlns:r="http://schemas.openxmlformats.org/officeDocument/2006/relationships" id="2147483651" r:id="R04f92074102d4b70"/>
    <p:sldLayoutId xmlns:r="http://schemas.openxmlformats.org/officeDocument/2006/relationships" id="2147483652" r:id="Ra41c5aee72bb47e3"/>
    <p:sldLayoutId xmlns:r="http://schemas.openxmlformats.org/officeDocument/2006/relationships" id="2147483653" r:id="Rc8c27b3819fc4f1f"/>
    <p:sldLayoutId xmlns:r="http://schemas.openxmlformats.org/officeDocument/2006/relationships" id="2147483654" r:id="R6e13dfb12128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753bb941b4cba" /><Relationship Type="http://schemas.openxmlformats.org/officeDocument/2006/relationships/notesSlide" Target="/ppt/notesSlides/notesSlide1.xml" Id="R2554e77bac184f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f90dfa6e64b53" /><Relationship Type="http://schemas.openxmlformats.org/officeDocument/2006/relationships/image" Target="/ppt/media/image.png" Id="Re2a86638784f47db" /><Relationship Type="http://schemas.openxmlformats.org/officeDocument/2006/relationships/notesSlide" Target="/ppt/notesSlides/notesSlide2.xml" Id="R198c4c377e6a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a6597d0924226" /><Relationship Type="http://schemas.openxmlformats.org/officeDocument/2006/relationships/notesSlide" Target="/ppt/notesSlides/notesSlide3.xml" Id="Rd629f7d848b2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577a12fd641b0" /><Relationship Type="http://schemas.openxmlformats.org/officeDocument/2006/relationships/notesSlide" Target="/ppt/notesSlides/notesSlide4.xml" Id="R37250f7ad576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ac500f6294493" /><Relationship Type="http://schemas.openxmlformats.org/officeDocument/2006/relationships/image" Target="/ppt/media/image2.png" Id="Rc010db57b2424d8a" /><Relationship Type="http://schemas.openxmlformats.org/officeDocument/2006/relationships/notesSlide" Target="/ppt/notesSlides/notesSlide5.xml" Id="R25894cadc6ae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a409ef30649de" /><Relationship Type="http://schemas.openxmlformats.org/officeDocument/2006/relationships/image" Target="/ppt/media/image3.png" Id="Re900fb00bd1e4a6a" /><Relationship Type="http://schemas.openxmlformats.org/officeDocument/2006/relationships/notesSlide" Target="/ppt/notesSlides/notesSlide6.xml" Id="Rbe0517936f2f45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62f5462ff4d97" /><Relationship Type="http://schemas.openxmlformats.org/officeDocument/2006/relationships/notesSlide" Target="/ppt/notesSlides/notesSlide7.xml" Id="R2eb52edeab9c41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124cff1314467" /><Relationship Type="http://schemas.openxmlformats.org/officeDocument/2006/relationships/notesSlide" Target="/ppt/notesSlides/notesSlide8.xml" Id="R2693121d020d42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1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97A437-E4F0-4624-92BB-A1930A13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Recomendador de cursos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 intereses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2509812-D14A-48D6-A467-D6FE3898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6E4D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6E4DD"/>
                </a:solidFill>
                <a:latin typeface="Arial"/>
                <a:ea typeface="Arial"/>
                <a:cs typeface="Arial"/>
              </a:rPr>
              <a:t>SQL Server 2025 + RAG local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F58AC6-86BC-44DF-B235-EFA241DD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DP-800 · Nivel 3 avanzado</a:t>
            </a:r>
          </a:p>
        </p:txBody>
      </p:sp>
    </p:spTree>
    <p:extLst>
      <p:ext uri="{BB962C8B-B14F-4D97-AF65-F5344CB8AC3E}">
        <p14:creationId xmlns:p14="http://schemas.microsoft.com/office/powerpoint/2010/main" val="997607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01635E-ABBB-4D5B-83F3-53ABEDC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Una necesidad de aprendizaje, varios filtros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C5B401-81F4-4C1A-A179-A21A3A6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10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«Quiero analizar ventas</a:t>
            </a:r>
          </a:p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con SQL y tengo</a:t>
            </a:r>
          </a:p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conocimientos básicos»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298BC2-8F4D-4C40-B5DD-5623F1F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7086"/>
                </a:solidFill>
                <a:latin typeface="Arial"/>
                <a:ea typeface="Arial"/>
                <a:cs typeface="Arial"/>
              </a:rPr>
              <a:t>131 cursos de prueba</a:t>
            </a:r>
          </a:p>
          <a:p xmlns:a="http://schemas.openxmlformats.org/drawingml/2006/main">
            <a: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7086"/>
                </a:solidFill>
                <a:latin typeface="Arial"/>
                <a:ea typeface="Arial"/>
                <a:cs typeface="Arial"/>
              </a:rPr>
              <a:t>10 categorías</a:t>
            </a:r>
          </a:p>
          <a:p xmlns:a="http://schemas.openxmlformats.org/drawingml/2006/main">
            <a:pPr>
              <a:defRPr sz="21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7086"/>
                </a:solidFill>
                <a:latin typeface="Arial"/>
                <a:ea typeface="Arial"/>
                <a:cs typeface="Arial"/>
              </a:rPr>
              <a:t>Ranking por afinidad semántica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33D6C-D666-46F0-BDF1-F8B20D871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86638784f47db"/>
          <a:stretch xmlns:a="http://schemas.openxmlformats.org/drawingml/2006/main"/>
        </p:blipFill>
        <p:spPr>
          <a:xfrm xmlns:a="http://schemas.openxmlformats.org/drawingml/2006/main">
            <a:off x="5905500" y="1552649"/>
            <a:ext cx="5619750" cy="46099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33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BDB128CE-4855-4CDA-B356-BB5AC02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Arquitectura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D29FE-C4C2-4766-91E2-84190E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71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14288">
            <a:solidFill>
              <a:srgbClr val="137D78"/>
            </a:solidFill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FE08D1-D72C-4A00-92C3-306CD10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925B76-BB42-4813-B32A-27465E7E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Pregunta y filtros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76D9C-DCF8-46C1-A7BD-FED5FC45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2571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14288">
            <a:solidFill>
              <a:srgbClr val="137D78"/>
            </a:solidFill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33CC6C-4488-4387-AA6A-B8696E7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904312-3AAC-4EC8-8935-0912F25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HTTP y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6A3A-8F8B-4498-A1AE-830C73A1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571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14288">
            <a:solidFill>
              <a:srgbClr val="137D78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7E1486-774C-419C-BECB-D075E05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716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SQL Server 2025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BD5744-38B7-48AD-AFE2-6D8734B3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VECTOR y procedimiento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E2B491-3F91-47C8-B14A-7A59BAF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812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61FDA9-20AA-4999-8E71-0033B151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812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AEF88-4752-4964-9338-2BB0BBE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14288">
            <a:solidFill>
              <a:srgbClr val="137D78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4F5DBE-2FDD-475D-A295-3B7E4F2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386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247A337-EB91-4742-BE4A-7718A2D9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2445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embeddinggemma · 768D</a:t>
            </a:r>
          </a:p>
          <a:p xmlns:a="http://schemas.openxmlformats.org/drawingml/2006/main">
            <a:pPr>
              <a:defRPr sz="18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qwen2.5:1.5b · generación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026B10-F031-49B8-9BDC-B2E664A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7662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84A9614-1166-4144-990D-FC7AB07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7086"/>
                </a:solidFill>
                <a:latin typeface="Arial"/>
                <a:ea typeface="Arial"/>
                <a:cs typeface="Arial"/>
              </a:rPr>
              <a:t>Carga inicial: Python guarda los embeddings en SQL Server</a:t>
            </a:r>
          </a:p>
        </p:txBody>
      </p:sp>
    </p:spTree>
    <p:extLst>
      <p:ext uri="{BB962C8B-B14F-4D97-AF65-F5344CB8AC3E}">
        <p14:creationId xmlns:p14="http://schemas.microsoft.com/office/powerpoint/2010/main" val="908713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B6D4BC-22C7-42BC-A3D0-F7030FA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Modelo relacional y permisos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0946-E8C3-45A1-BA90-1A993D4C41D5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5340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91440" marR="91440" marT="45720" marB="45720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EEF5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Courses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Título, descripción, nivel, duración, JSON y VECTOR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Categories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Temáticas del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CourseCategories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Relación muchos a muchos con PK y dos FK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F3A5F0-5930-498F-9E0B-0B2398B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D78"/>
                </a:solidFill>
                <a:latin typeface="Arial"/>
                <a:ea typeface="Arial"/>
                <a:cs typeface="Arial"/>
              </a:rPr>
              <a:t>Lector: vista y recomendación; tabla base y escritura denegadas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1D4042-93A0-4AFD-9596-3FA524C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Editor: consulta y actualización; borrado denegado</a:t>
            </a:r>
          </a:p>
        </p:txBody>
      </p:sp>
    </p:spTree>
    <p:extLst>
      <p:ext uri="{BB962C8B-B14F-4D97-AF65-F5344CB8AC3E}">
        <p14:creationId xmlns:p14="http://schemas.microsoft.com/office/powerpoint/2010/main" val="1054245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18F2022-8C3A-4590-8541-DFD6F4E1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Búsqueda semántica y RAG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FBBE26-7A6B-406C-931C-4489075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La búsqueda devuelve</a:t>
            </a:r>
          </a:p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cursos ordenados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837862-1272-449D-B888-F8FC0CB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RAG utiliza esos cursos</a:t>
            </a:r>
          </a:p>
          <a:p xmlns:a="http://schemas.openxmlformats.org/drawingml/2006/main">
            <a: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como contexto y genera</a:t>
            </a:r>
          </a:p>
          <a:p xmlns:a="http://schemas.openxmlformats.org/drawingml/2006/main">
            <a:pPr>
              <a:defRPr sz="225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un motivo de recomendación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0FFD5E-B91C-4027-A86D-5A5E835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Sin fuentes: abstención</a:t>
            </a:r>
          </a:p>
          <a:p xmlns:a="http://schemas.openxmlformats.org/drawingml/2006/main">
            <a:pPr>
              <a:defRPr sz="195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Sin precios: informa de su ausencia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0C841-9E54-4B62-8410-98D285010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0db57b2424d8a"/>
          <a:stretch xmlns:a="http://schemas.openxmlformats.org/drawingml/2006/main"/>
        </p:blipFill>
        <p:spPr>
          <a:xfrm xmlns:a="http://schemas.openxmlformats.org/drawingml/2006/main">
            <a:off x="5953125" y="1978689"/>
            <a:ext cx="5572125" cy="3567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6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3768FF-BD8E-4C06-B4CD-06B64A2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Demostración: pregunta, contexto y respuesta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A071-484D-4351-8DF6-668B511F2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0fb00bd1e4a6a"/>
          <a:stretch xmlns:a="http://schemas.openxmlformats.org/drawingml/2006/main"/>
        </p:blipFill>
        <p:spPr>
          <a:xfrm xmlns:a="http://schemas.openxmlformats.org/drawingml/2006/main">
            <a:off x="1577556" y="1381125"/>
            <a:ext cx="4883987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A11E71-04F7-48DF-8F8C-89DE7DD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57375"/>
            <a:ext cx="3714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1. Escribir la necesidad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2. Aplicar los filtros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3. Pedir la explicación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4. Revisar las fuentes</a:t>
            </a:r>
          </a:p>
        </p:txBody>
      </p:sp>
    </p:spTree>
    <p:extLst>
      <p:ext uri="{BB962C8B-B14F-4D97-AF65-F5344CB8AC3E}">
        <p14:creationId xmlns:p14="http://schemas.microsoft.com/office/powerpoint/2010/main" val="738610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66EBE5-64DF-4377-8D87-C557DEE3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Resultados medidos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00034-FA22-4100-B199-C5C37F33245A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95575"/>
                <a:gridCol w="26955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Métrica por llamada</a:t>
                      </a:r>
                    </a:p>
                  </a:txBody>
                  <a:tcPr marL="91440" marR="91440" marT="45720" marB="45720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Inicial</a:t>
                      </a:r>
                    </a:p>
                  </a:txBody>
                  <a:tcPr marL="91440" marR="91440" marT="45720" marB="45720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CTE TOP K</a:t>
                      </a:r>
                    </a:p>
                  </a:txBody>
                  <a:tcPr marL="91440" marR="91440" marT="45720" marB="45720">
                    <a:solidFill>
                      <a:srgbClr val="EE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Duración SQL (ms)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1.475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1.164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CPU SQL (ms)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1.256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0.899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Lecturas lógicas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1145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Mediana ODBC (ms)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2.641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14D"/>
                          </a:solidFill>
                          <a:latin typeface="Arial"/>
                          <a:ea typeface="Arial"/>
                          <a:cs typeface="Arial"/>
                        </a:rPr>
                        <a:t>2.616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B283CA-570B-404C-BD5A-9090C39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D78"/>
                </a:solidFill>
                <a:latin typeface="Arial"/>
                <a:ea typeface="Arial"/>
                <a:cs typeface="Arial"/>
              </a:rPr>
              <a:t>≈71 % menos lecturas; diferencia de latencia cliente pequeña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6BE4A03-6123-4A10-98DC-DB93502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4 pruebas unitarias · 8 casos de recuperación · seguridad y reproducción verificadas</a:t>
            </a:r>
          </a:p>
        </p:txBody>
      </p:sp>
    </p:spTree>
    <p:extLst>
      <p:ext uri="{BB962C8B-B14F-4D97-AF65-F5344CB8AC3E}">
        <p14:creationId xmlns:p14="http://schemas.microsoft.com/office/powerpoint/2010/main" val="1977607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408A82-7F06-4327-A78E-D5BD7528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Conclusiones y límites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76E3D6-57BD-4F03-85C1-E16862A8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14D"/>
                </a:solidFill>
                <a:latin typeface="Arial"/>
                <a:ea typeface="Arial"/>
                <a:cs typeface="Arial"/>
              </a:rPr>
              <a:t>SQL conserva datos, integridad y permisos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2C5041-1EFF-4A98-BE70-75B7349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Los modelos locales permiten buscar y explicar</a:t>
            </a:r>
          </a:p>
          <a:p xmlns:a="http://schemas.openxmlformats.org/drawingml/2006/main">
            <a:pPr>
              <a:defRPr sz="2325" b="0">
                <a:solidFill>
                  <a:srgbClr val="1531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14D"/>
                </a:solidFill>
                <a:latin typeface="Arial"/>
                <a:ea typeface="Arial"/>
                <a:cs typeface="Arial"/>
              </a:rPr>
              <a:t>con un contexto que se puede inspeccionar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E21DC3-918D-4311-8467-660F3DA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La evaluación detectó errores reales y permitió corregirlos:</a:t>
            </a:r>
          </a:p>
          <a:p xmlns:a="http://schemas.openxmlformats.org/drawingml/2006/main">
            <a:pPr>
              <a:defRPr sz="2100" b="0">
                <a:solidFill>
                  <a:srgbClr val="137D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7D78"/>
                </a:solidFill>
                <a:latin typeface="Arial"/>
                <a:ea typeface="Arial"/>
                <a:cs typeface="Arial"/>
              </a:rPr>
              <a:t>citas, duraciones, tipos ODBC y propuestas de optimización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33BF33-ECCF-4414-867A-695DB942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70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7086"/>
                </a:solidFill>
                <a:latin typeface="Arial"/>
                <a:ea typeface="Arial"/>
                <a:cs typeface="Arial"/>
              </a:rPr>
              <a:t>Catálogo ficticio · LLM falible · Cuenta de servicio dedicada pendiente para producción</a:t>
            </a:r>
          </a:p>
        </p:txBody>
      </p:sp>
    </p:spTree>
    <p:extLst>
      <p:ext uri="{BB962C8B-B14F-4D97-AF65-F5344CB8AC3E}">
        <p14:creationId xmlns:p14="http://schemas.microsoft.com/office/powerpoint/2010/main" val="398944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2026-10-26T22:13:24.1700000Z</dcterms:created>
  <dcterms:modified xsi:type="dcterms:W3CDTF">2026-10-26T22:13:24.1700000Z</dcterms:modified>
</coreProperties>
</file>